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9" r:id="rId6"/>
    <p:sldId id="260" r:id="rId7"/>
    <p:sldId id="270" r:id="rId8"/>
    <p:sldId id="272" r:id="rId9"/>
    <p:sldId id="273" r:id="rId10"/>
    <p:sldId id="274" r:id="rId11"/>
    <p:sldId id="271" r:id="rId12"/>
    <p:sldId id="268" r:id="rId13"/>
    <p:sldId id="27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E7F1-FAA3-4A20-A943-2B1A6A1320BF}" v="20" dt="2025-12-16T02:42:59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ACC35A-5B5D-4876-8D4D-46F396A726A2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5040DB-E33C-4279-BF66-69C3513BF5F9}">
      <dgm:prSet phldrT="[Text]" phldr="0"/>
      <dgm:spPr/>
      <dgm:t>
        <a:bodyPr/>
        <a:lstStyle/>
        <a:p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Up</a:t>
          </a:r>
        </a:p>
      </dgm:t>
    </dgm:pt>
    <dgm:pt modelId="{EA14720E-EFF1-454F-93CE-6419050F7E90}" type="parTrans" cxnId="{335345FA-D176-4574-A136-33A10D1D084D}">
      <dgm:prSet/>
      <dgm:spPr/>
      <dgm:t>
        <a:bodyPr/>
        <a:lstStyle/>
        <a:p>
          <a:endParaRPr lang="en-US"/>
        </a:p>
      </dgm:t>
    </dgm:pt>
    <dgm:pt modelId="{E456E260-7D09-448E-9582-D8DC810109FA}" type="sibTrans" cxnId="{335345FA-D176-4574-A136-33A10D1D084D}">
      <dgm:prSet/>
      <dgm:spPr/>
      <dgm:t>
        <a:bodyPr/>
        <a:lstStyle/>
        <a:p>
          <a:endParaRPr lang="en-US"/>
        </a:p>
      </dgm:t>
    </dgm:pt>
    <dgm:pt modelId="{40A57F9D-F282-4619-BAAD-057CAC0850B7}">
      <dgm:prSet phldrT="[Text]" phldr="0"/>
      <dgm:spPr/>
      <dgm:t>
        <a:bodyPr/>
        <a:lstStyle/>
        <a:p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Device Usage</a:t>
          </a:r>
        </a:p>
      </dgm:t>
    </dgm:pt>
    <dgm:pt modelId="{AB0157FE-8791-4774-893A-5398D5D42DCE}" type="parTrans" cxnId="{E90F6A56-47F9-4293-9558-2D42A37AE3A6}">
      <dgm:prSet/>
      <dgm:spPr/>
      <dgm:t>
        <a:bodyPr/>
        <a:lstStyle/>
        <a:p>
          <a:endParaRPr lang="en-US"/>
        </a:p>
      </dgm:t>
    </dgm:pt>
    <dgm:pt modelId="{BF8E4C27-8E46-4CD6-B932-6617528AB1B9}" type="sibTrans" cxnId="{E90F6A56-47F9-4293-9558-2D42A37AE3A6}">
      <dgm:prSet/>
      <dgm:spPr/>
      <dgm:t>
        <a:bodyPr/>
        <a:lstStyle/>
        <a:p>
          <a:endParaRPr lang="en-US"/>
        </a:p>
      </dgm:t>
    </dgm:pt>
    <dgm:pt modelId="{1725FEBA-F1A3-4250-A9E5-EF6E1A3F1031}">
      <dgm:prSet phldrT="[Text]" phldr="0"/>
      <dgm:spPr/>
      <dgm:t>
        <a:bodyPr/>
        <a:lstStyle/>
        <a:p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Down</a:t>
          </a:r>
        </a:p>
      </dgm:t>
    </dgm:pt>
    <dgm:pt modelId="{BB4FA3A0-93EC-4F4D-B53C-BD64A39A3378}" type="parTrans" cxnId="{218F7062-29BC-4C02-B494-FB6CE67BA555}">
      <dgm:prSet/>
      <dgm:spPr/>
      <dgm:t>
        <a:bodyPr/>
        <a:lstStyle/>
        <a:p>
          <a:endParaRPr lang="en-US"/>
        </a:p>
      </dgm:t>
    </dgm:pt>
    <dgm:pt modelId="{63CF0EBC-73CA-4C0A-B694-C99E3FF25E07}" type="sibTrans" cxnId="{218F7062-29BC-4C02-B494-FB6CE67BA555}">
      <dgm:prSet/>
      <dgm:spPr/>
      <dgm:t>
        <a:bodyPr/>
        <a:lstStyle/>
        <a:p>
          <a:endParaRPr lang="en-US"/>
        </a:p>
      </dgm:t>
    </dgm:pt>
    <dgm:pt modelId="{AA4CAD6C-2B33-4873-AA22-47DCFC599762}">
      <dgm:prSet phldrT="[Text]" phldr="0"/>
      <dgm:spPr/>
      <dgm:t>
        <a:bodyPr/>
        <a:lstStyle/>
        <a:p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Mental Health</a:t>
          </a:r>
        </a:p>
      </dgm:t>
    </dgm:pt>
    <dgm:pt modelId="{E40C1299-50AC-4AE1-96E3-20EBC9B9122E}" type="parTrans" cxnId="{BAFA847E-2CF9-4D46-B5EB-12F4BC852BE0}">
      <dgm:prSet/>
      <dgm:spPr/>
      <dgm:t>
        <a:bodyPr/>
        <a:lstStyle/>
        <a:p>
          <a:endParaRPr lang="en-US"/>
        </a:p>
      </dgm:t>
    </dgm:pt>
    <dgm:pt modelId="{FDA9119B-A579-4F71-AA5D-72C79F0DDC6E}" type="sibTrans" cxnId="{BAFA847E-2CF9-4D46-B5EB-12F4BC852BE0}">
      <dgm:prSet/>
      <dgm:spPr/>
      <dgm:t>
        <a:bodyPr/>
        <a:lstStyle/>
        <a:p>
          <a:endParaRPr lang="en-US"/>
        </a:p>
      </dgm:t>
    </dgm:pt>
    <dgm:pt modelId="{1534BF47-0A39-46D9-B34D-CECA3DFF3C02}" type="pres">
      <dgm:prSet presAssocID="{E6ACC35A-5B5D-4876-8D4D-46F396A726A2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BB479D85-91B9-4CC0-A201-9B5A5A50BDCB}" type="pres">
      <dgm:prSet presAssocID="{E6ACC35A-5B5D-4876-8D4D-46F396A726A2}" presName="Background" presStyleLbl="node1" presStyleIdx="0" presStyleCnt="1"/>
      <dgm:spPr/>
    </dgm:pt>
    <dgm:pt modelId="{DD0C2A78-E1EE-48EE-94DD-29691B77CC8E}" type="pres">
      <dgm:prSet presAssocID="{E6ACC35A-5B5D-4876-8D4D-46F396A726A2}" presName="Divider" presStyleLbl="callout" presStyleIdx="0" presStyleCnt="1"/>
      <dgm:spPr/>
    </dgm:pt>
    <dgm:pt modelId="{7A39BD33-F8E2-4759-8BA2-5BD3C07664D0}" type="pres">
      <dgm:prSet presAssocID="{E6ACC35A-5B5D-4876-8D4D-46F396A726A2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2CE038-646A-4C83-8F30-7F637DFF4537}" type="pres">
      <dgm:prSet presAssocID="{E6ACC35A-5B5D-4876-8D4D-46F396A726A2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28EB297-51CC-44CC-9653-0417AF3A4A6D}" type="pres">
      <dgm:prSet presAssocID="{E6ACC35A-5B5D-4876-8D4D-46F396A726A2}" presName="ParentText1" presStyleLbl="revTx" presStyleIdx="0" presStyleCnt="0">
        <dgm:presLayoutVars>
          <dgm:chMax val="1"/>
          <dgm:chPref val="1"/>
        </dgm:presLayoutVars>
      </dgm:prSet>
      <dgm:spPr/>
    </dgm:pt>
    <dgm:pt modelId="{28A0779D-49BA-4744-8250-D0B6BAD4E636}" type="pres">
      <dgm:prSet presAssocID="{E6ACC35A-5B5D-4876-8D4D-46F396A726A2}" presName="ParentShape1" presStyleLbl="alignImgPlace1" presStyleIdx="0" presStyleCnt="2">
        <dgm:presLayoutVars/>
      </dgm:prSet>
      <dgm:spPr/>
    </dgm:pt>
    <dgm:pt modelId="{7BEA8AA8-375D-41CD-A2FA-1E4786B8A640}" type="pres">
      <dgm:prSet presAssocID="{E6ACC35A-5B5D-4876-8D4D-46F396A726A2}" presName="ParentText2" presStyleLbl="revTx" presStyleIdx="0" presStyleCnt="0">
        <dgm:presLayoutVars>
          <dgm:chMax val="1"/>
          <dgm:chPref val="1"/>
        </dgm:presLayoutVars>
      </dgm:prSet>
      <dgm:spPr/>
    </dgm:pt>
    <dgm:pt modelId="{1C8BA533-2796-480B-852F-A60B47D7FAD8}" type="pres">
      <dgm:prSet presAssocID="{E6ACC35A-5B5D-4876-8D4D-46F396A726A2}" presName="ParentShape2" presStyleLbl="alignImgPlace1" presStyleIdx="1" presStyleCnt="2">
        <dgm:presLayoutVars/>
      </dgm:prSet>
      <dgm:spPr/>
    </dgm:pt>
  </dgm:ptLst>
  <dgm:cxnLst>
    <dgm:cxn modelId="{98520800-2343-403C-A69A-907085C427DA}" type="presOf" srcId="{1725FEBA-F1A3-4250-A9E5-EF6E1A3F1031}" destId="{1C8BA533-2796-480B-852F-A60B47D7FAD8}" srcOrd="1" destOrd="0" presId="urn:microsoft.com/office/officeart/2009/3/layout/OpposingIdeas"/>
    <dgm:cxn modelId="{D2A31232-2D2F-4D8A-97A7-62A568FA3045}" type="presOf" srcId="{1725FEBA-F1A3-4250-A9E5-EF6E1A3F1031}" destId="{7BEA8AA8-375D-41CD-A2FA-1E4786B8A640}" srcOrd="0" destOrd="0" presId="urn:microsoft.com/office/officeart/2009/3/layout/OpposingIdeas"/>
    <dgm:cxn modelId="{D9D58E3E-C7E1-4FDF-BC29-FF2072728A04}" type="presOf" srcId="{E6ACC35A-5B5D-4876-8D4D-46F396A726A2}" destId="{1534BF47-0A39-46D9-B34D-CECA3DFF3C02}" srcOrd="0" destOrd="0" presId="urn:microsoft.com/office/officeart/2009/3/layout/OpposingIdeas"/>
    <dgm:cxn modelId="{BC3B1A5F-DC08-4B22-8475-FA58A8233722}" type="presOf" srcId="{A65040DB-E33C-4279-BF66-69C3513BF5F9}" destId="{28A0779D-49BA-4744-8250-D0B6BAD4E636}" srcOrd="1" destOrd="0" presId="urn:microsoft.com/office/officeart/2009/3/layout/OpposingIdeas"/>
    <dgm:cxn modelId="{218F7062-29BC-4C02-B494-FB6CE67BA555}" srcId="{E6ACC35A-5B5D-4876-8D4D-46F396A726A2}" destId="{1725FEBA-F1A3-4250-A9E5-EF6E1A3F1031}" srcOrd="1" destOrd="0" parTransId="{BB4FA3A0-93EC-4F4D-B53C-BD64A39A3378}" sibTransId="{63CF0EBC-73CA-4C0A-B694-C99E3FF25E07}"/>
    <dgm:cxn modelId="{E44AC352-8B47-42D6-B7DC-DF857AD73E44}" type="presOf" srcId="{40A57F9D-F282-4619-BAAD-057CAC0850B7}" destId="{7A39BD33-F8E2-4759-8BA2-5BD3C07664D0}" srcOrd="0" destOrd="0" presId="urn:microsoft.com/office/officeart/2009/3/layout/OpposingIdeas"/>
    <dgm:cxn modelId="{E90F6A56-47F9-4293-9558-2D42A37AE3A6}" srcId="{A65040DB-E33C-4279-BF66-69C3513BF5F9}" destId="{40A57F9D-F282-4619-BAAD-057CAC0850B7}" srcOrd="0" destOrd="0" parTransId="{AB0157FE-8791-4774-893A-5398D5D42DCE}" sibTransId="{BF8E4C27-8E46-4CD6-B932-6617528AB1B9}"/>
    <dgm:cxn modelId="{BAFA847E-2CF9-4D46-B5EB-12F4BC852BE0}" srcId="{1725FEBA-F1A3-4250-A9E5-EF6E1A3F1031}" destId="{AA4CAD6C-2B33-4873-AA22-47DCFC599762}" srcOrd="0" destOrd="0" parTransId="{E40C1299-50AC-4AE1-96E3-20EBC9B9122E}" sibTransId="{FDA9119B-A579-4F71-AA5D-72C79F0DDC6E}"/>
    <dgm:cxn modelId="{DD1AE490-9AB3-4931-85F5-4194B939F8FB}" type="presOf" srcId="{AA4CAD6C-2B33-4873-AA22-47DCFC599762}" destId="{442CE038-646A-4C83-8F30-7F637DFF4537}" srcOrd="0" destOrd="0" presId="urn:microsoft.com/office/officeart/2009/3/layout/OpposingIdeas"/>
    <dgm:cxn modelId="{E11DA396-F62E-48B0-8C1B-61612B713666}" type="presOf" srcId="{A65040DB-E33C-4279-BF66-69C3513BF5F9}" destId="{328EB297-51CC-44CC-9653-0417AF3A4A6D}" srcOrd="0" destOrd="0" presId="urn:microsoft.com/office/officeart/2009/3/layout/OpposingIdeas"/>
    <dgm:cxn modelId="{335345FA-D176-4574-A136-33A10D1D084D}" srcId="{E6ACC35A-5B5D-4876-8D4D-46F396A726A2}" destId="{A65040DB-E33C-4279-BF66-69C3513BF5F9}" srcOrd="0" destOrd="0" parTransId="{EA14720E-EFF1-454F-93CE-6419050F7E90}" sibTransId="{E456E260-7D09-448E-9582-D8DC810109FA}"/>
    <dgm:cxn modelId="{9C93EBEA-DB9F-47A0-B543-97977F39B173}" type="presParOf" srcId="{1534BF47-0A39-46D9-B34D-CECA3DFF3C02}" destId="{BB479D85-91B9-4CC0-A201-9B5A5A50BDCB}" srcOrd="0" destOrd="0" presId="urn:microsoft.com/office/officeart/2009/3/layout/OpposingIdeas"/>
    <dgm:cxn modelId="{FE1FEFF3-F7A4-4EDF-ADAD-A7365A9C6DFA}" type="presParOf" srcId="{1534BF47-0A39-46D9-B34D-CECA3DFF3C02}" destId="{DD0C2A78-E1EE-48EE-94DD-29691B77CC8E}" srcOrd="1" destOrd="0" presId="urn:microsoft.com/office/officeart/2009/3/layout/OpposingIdeas"/>
    <dgm:cxn modelId="{6052F016-EFE6-4CD6-951E-D027B8597C18}" type="presParOf" srcId="{1534BF47-0A39-46D9-B34D-CECA3DFF3C02}" destId="{7A39BD33-F8E2-4759-8BA2-5BD3C07664D0}" srcOrd="2" destOrd="0" presId="urn:microsoft.com/office/officeart/2009/3/layout/OpposingIdeas"/>
    <dgm:cxn modelId="{F13A0256-5A07-49DF-A232-A7776DEE1520}" type="presParOf" srcId="{1534BF47-0A39-46D9-B34D-CECA3DFF3C02}" destId="{442CE038-646A-4C83-8F30-7F637DFF4537}" srcOrd="3" destOrd="0" presId="urn:microsoft.com/office/officeart/2009/3/layout/OpposingIdeas"/>
    <dgm:cxn modelId="{0208A833-A5C3-4079-8A79-FF51A6F89605}" type="presParOf" srcId="{1534BF47-0A39-46D9-B34D-CECA3DFF3C02}" destId="{328EB297-51CC-44CC-9653-0417AF3A4A6D}" srcOrd="4" destOrd="0" presId="urn:microsoft.com/office/officeart/2009/3/layout/OpposingIdeas"/>
    <dgm:cxn modelId="{0BE636D0-469C-48C1-A159-321B2377BD05}" type="presParOf" srcId="{1534BF47-0A39-46D9-B34D-CECA3DFF3C02}" destId="{28A0779D-49BA-4744-8250-D0B6BAD4E636}" srcOrd="5" destOrd="0" presId="urn:microsoft.com/office/officeart/2009/3/layout/OpposingIdeas"/>
    <dgm:cxn modelId="{3FDDFA40-AB32-4226-BE86-9F13D95FCB77}" type="presParOf" srcId="{1534BF47-0A39-46D9-B34D-CECA3DFF3C02}" destId="{7BEA8AA8-375D-41CD-A2FA-1E4786B8A640}" srcOrd="6" destOrd="0" presId="urn:microsoft.com/office/officeart/2009/3/layout/OpposingIdeas"/>
    <dgm:cxn modelId="{2E91221A-DA28-435F-9E19-18A8849D96AE}" type="presParOf" srcId="{1534BF47-0A39-46D9-B34D-CECA3DFF3C02}" destId="{1C8BA533-2796-480B-852F-A60B47D7FAD8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79D85-91B9-4CC0-A201-9B5A5A50BDCB}">
      <dsp:nvSpPr>
        <dsp:cNvPr id="0" name=""/>
        <dsp:cNvSpPr/>
      </dsp:nvSpPr>
      <dsp:spPr>
        <a:xfrm>
          <a:off x="631959" y="1268918"/>
          <a:ext cx="3791757" cy="2039077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C2A78-E1EE-48EE-94DD-29691B77CC8E}">
      <dsp:nvSpPr>
        <dsp:cNvPr id="0" name=""/>
        <dsp:cNvSpPr/>
      </dsp:nvSpPr>
      <dsp:spPr>
        <a:xfrm>
          <a:off x="2527838" y="1485184"/>
          <a:ext cx="505" cy="16065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9BD33-F8E2-4759-8BA2-5BD3C07664D0}">
      <dsp:nvSpPr>
        <dsp:cNvPr id="0" name=""/>
        <dsp:cNvSpPr/>
      </dsp:nvSpPr>
      <dsp:spPr>
        <a:xfrm>
          <a:off x="758351" y="1423394"/>
          <a:ext cx="1643094" cy="17301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1">
                  <a:lumMod val="95000"/>
                  <a:lumOff val="5000"/>
                </a:schemeClr>
              </a:solidFill>
            </a:rPr>
            <a:t>Device Usage</a:t>
          </a:r>
        </a:p>
      </dsp:txBody>
      <dsp:txXfrm>
        <a:off x="758351" y="1423394"/>
        <a:ext cx="1643094" cy="1730126"/>
      </dsp:txXfrm>
    </dsp:sp>
    <dsp:sp modelId="{442CE038-646A-4C83-8F30-7F637DFF4537}">
      <dsp:nvSpPr>
        <dsp:cNvPr id="0" name=""/>
        <dsp:cNvSpPr/>
      </dsp:nvSpPr>
      <dsp:spPr>
        <a:xfrm>
          <a:off x="2654229" y="1423394"/>
          <a:ext cx="1643094" cy="17301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1">
                  <a:lumMod val="95000"/>
                  <a:lumOff val="5000"/>
                </a:schemeClr>
              </a:solidFill>
            </a:rPr>
            <a:t>Mental Health</a:t>
          </a:r>
        </a:p>
      </dsp:txBody>
      <dsp:txXfrm>
        <a:off x="2654229" y="1423394"/>
        <a:ext cx="1643094" cy="1730126"/>
      </dsp:txXfrm>
    </dsp:sp>
    <dsp:sp modelId="{28A0779D-49BA-4744-8250-D0B6BAD4E636}">
      <dsp:nvSpPr>
        <dsp:cNvPr id="0" name=""/>
        <dsp:cNvSpPr/>
      </dsp:nvSpPr>
      <dsp:spPr>
        <a:xfrm rot="16200000">
          <a:off x="-796244" y="1539946"/>
          <a:ext cx="2224448" cy="631959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>
                  <a:lumMod val="95000"/>
                  <a:lumOff val="5000"/>
                </a:schemeClr>
              </a:solidFill>
            </a:rPr>
            <a:t>Up</a:t>
          </a:r>
        </a:p>
      </dsp:txBody>
      <dsp:txXfrm>
        <a:off x="-700734" y="1793984"/>
        <a:ext cx="2033427" cy="314905"/>
      </dsp:txXfrm>
    </dsp:sp>
    <dsp:sp modelId="{1C8BA533-2796-480B-852F-A60B47D7FAD8}">
      <dsp:nvSpPr>
        <dsp:cNvPr id="0" name=""/>
        <dsp:cNvSpPr/>
      </dsp:nvSpPr>
      <dsp:spPr>
        <a:xfrm rot="5400000">
          <a:off x="3627472" y="2405009"/>
          <a:ext cx="2224448" cy="631959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>
                  <a:lumMod val="95000"/>
                  <a:lumOff val="5000"/>
                </a:schemeClr>
              </a:solidFill>
            </a:rPr>
            <a:t>Down</a:t>
          </a:r>
        </a:p>
      </dsp:txBody>
      <dsp:txXfrm>
        <a:off x="3722983" y="2468026"/>
        <a:ext cx="2033427" cy="314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338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0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Digital Behavior vs. Mental Health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Evaluating the effects of Digital habits on Mental Health using Data Analysis and machine learning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74D3-6B10-409E-9110-EEBEAA7E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7" y="629266"/>
            <a:ext cx="6408893" cy="1641986"/>
          </a:xfrm>
        </p:spPr>
        <p:txBody>
          <a:bodyPr>
            <a:normAutofit/>
          </a:bodyPr>
          <a:lstStyle/>
          <a:p>
            <a:r>
              <a:rPr lang="en-US" dirty="0"/>
              <a:t>Living in a Digital Age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527E565-DE8D-445C-9879-AD1D04415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CCAF60-1371-5DB8-DED3-8629294FF3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0911"/>
              </p:ext>
            </p:extLst>
          </p:nvPr>
        </p:nvGraphicFramePr>
        <p:xfrm>
          <a:off x="6067936" y="1450258"/>
          <a:ext cx="5055676" cy="4576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31F25C-3EAD-C7B4-B2EE-5ACF21E4B724}"/>
              </a:ext>
            </a:extLst>
          </p:cNvPr>
          <p:cNvSpPr txBox="1"/>
          <p:nvPr/>
        </p:nvSpPr>
        <p:spPr>
          <a:xfrm>
            <a:off x="650668" y="1624780"/>
            <a:ext cx="4661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Digital devices are used for school, work, and recreation</a:t>
            </a:r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endParaRPr lang="en-US" dirty="0"/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Hard to keep track of how long we are in front of a screen</a:t>
            </a:r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endParaRPr lang="en-US" dirty="0"/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Difficult to manage stress and mental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A8BDE-596B-D860-9077-9514C0942C26}"/>
              </a:ext>
            </a:extLst>
          </p:cNvPr>
          <p:cNvSpPr txBox="1"/>
          <p:nvPr/>
        </p:nvSpPr>
        <p:spPr>
          <a:xfrm>
            <a:off x="905436" y="5093108"/>
            <a:ext cx="5899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Is there a correlation?</a:t>
            </a:r>
          </a:p>
        </p:txBody>
      </p:sp>
    </p:spTree>
    <p:extLst>
      <p:ext uri="{BB962C8B-B14F-4D97-AF65-F5344CB8AC3E}">
        <p14:creationId xmlns:p14="http://schemas.microsoft.com/office/powerpoint/2010/main" val="233388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C570-72AC-45BE-BB60-458EBBAC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dirty="0"/>
              <a:t>Dataset Used for Analysis and Model Training</a:t>
            </a:r>
            <a:br>
              <a:rPr lang="en-US" sz="2900" dirty="0"/>
            </a:br>
            <a:br>
              <a:rPr lang="en-US" sz="2900" dirty="0"/>
            </a:br>
            <a:r>
              <a:rPr lang="en-US" sz="2000" dirty="0"/>
              <a:t>“Digital Lifestyle Benchmark” from Kaggle.com</a:t>
            </a:r>
            <a:endParaRPr lang="ru-RU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892E1F-36C5-3D6C-A146-4895F8254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23 synthetic features to reflect real world psychological data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17 numeric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6 categorical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Device Usage Metrics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Device hours per day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Phone unlocks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dirty="0"/>
              <a:t>Mental Health Scores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Anxiety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Depression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07ACEF2-EEC0-DE2D-28D2-497A27F5C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3673824"/>
            <a:ext cx="4396341" cy="4846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/>
              <a:t>Target: High Risk Flag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9DF8967-3EC1-AB2A-A1DF-297DBF92D499}"/>
              </a:ext>
            </a:extLst>
          </p:cNvPr>
          <p:cNvSpPr/>
          <p:nvPr/>
        </p:nvSpPr>
        <p:spPr>
          <a:xfrm>
            <a:off x="4859268" y="36738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B918-563B-59B7-F84C-D2DCF34B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AA870B-A013-A033-4F0C-08A49FFE2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2BFDAF9-394B-2753-1DB8-45AED3335A4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/>
          <a:lstStyle/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dirty="0"/>
              <a:t>Label encoding</a:t>
            </a:r>
          </a:p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dirty="0"/>
              <a:t>Scaling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FC88E99-45C4-770A-326A-9120C647A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CCD74-0318-E5CC-1209-8A9ECFE8ADC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/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sz="1400" dirty="0"/>
              <a:t>Visualization</a:t>
            </a:r>
          </a:p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dirty="0"/>
              <a:t>Identifying relationships</a:t>
            </a:r>
            <a:endParaRPr lang="en-US" sz="1400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A894B4E0-23C4-BF49-2FC9-CA61503CF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76D5B5E-E51C-141B-D6A0-D4DB79ACF84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/>
          <a:lstStyle/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dirty="0"/>
              <a:t>Supervised</a:t>
            </a:r>
          </a:p>
          <a:p>
            <a:pPr marL="285750" indent="-285750">
              <a:buFont typeface="Century Gothic" panose="020B0502020202020204" pitchFamily="34" charset="0"/>
              <a:buChar char="►"/>
            </a:pPr>
            <a:r>
              <a:rPr lang="en-US" dirty="0"/>
              <a:t>unsupervised</a:t>
            </a:r>
          </a:p>
        </p:txBody>
      </p:sp>
    </p:spTree>
    <p:extLst>
      <p:ext uri="{BB962C8B-B14F-4D97-AF65-F5344CB8AC3E}">
        <p14:creationId xmlns:p14="http://schemas.microsoft.com/office/powerpoint/2010/main" val="185539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482F-A58D-91CA-CBB9-6754420B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55C3-4FB6-8005-1ABA-AC96ABF8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  <a:p>
            <a:pPr lvl="1"/>
            <a:r>
              <a:rPr lang="en-US" dirty="0"/>
              <a:t>Ordered integer mapping for ordinal features</a:t>
            </a:r>
          </a:p>
          <a:p>
            <a:pPr lvl="1"/>
            <a:r>
              <a:rPr lang="en-US" dirty="0"/>
              <a:t>One-hot encoding for nominal features</a:t>
            </a:r>
          </a:p>
          <a:p>
            <a:pPr lvl="1"/>
            <a:endParaRPr lang="en-US" dirty="0"/>
          </a:p>
          <a:p>
            <a:r>
              <a:rPr lang="en-US" dirty="0"/>
              <a:t>Scaling</a:t>
            </a:r>
          </a:p>
          <a:p>
            <a:pPr lvl="1"/>
            <a:r>
              <a:rPr lang="en-US" dirty="0"/>
              <a:t>Applied standard scalar to numeric values for scaling sensitive models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848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51B7-461C-2268-2A88-EE88CC1E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EDA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E3DC77-F294-B702-C35F-456C0FCFE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350194"/>
            <a:ext cx="4396339" cy="2078806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olidFill>
                  <a:srgbClr val="92D050"/>
                </a:solidFill>
              </a:rPr>
              <a:t>Approaches</a:t>
            </a:r>
          </a:p>
          <a:p>
            <a:r>
              <a:rPr lang="en-US" dirty="0"/>
              <a:t>Boxplots</a:t>
            </a:r>
          </a:p>
          <a:p>
            <a:r>
              <a:rPr lang="en-US" dirty="0"/>
              <a:t>Count plots</a:t>
            </a:r>
          </a:p>
          <a:p>
            <a:r>
              <a:rPr lang="en-US" dirty="0"/>
              <a:t>Histograms</a:t>
            </a:r>
          </a:p>
          <a:p>
            <a:r>
              <a:rPr lang="en-US" dirty="0"/>
              <a:t>Correlation Matrix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4FF82-F265-1515-7B53-E5DE7A386A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48472" y="873676"/>
            <a:ext cx="6469175" cy="5110648"/>
          </a:xfr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5AB3F-C9F9-0D2C-E684-32E0A89D67A5}"/>
              </a:ext>
            </a:extLst>
          </p:cNvPr>
          <p:cNvSpPr txBox="1"/>
          <p:nvPr/>
        </p:nvSpPr>
        <p:spPr>
          <a:xfrm>
            <a:off x="5599370" y="6035950"/>
            <a:ext cx="5967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Numeric Feature Correlation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783D3-563C-D6E4-0F74-7C967330A3FD}"/>
              </a:ext>
            </a:extLst>
          </p:cNvPr>
          <p:cNvSpPr txBox="1"/>
          <p:nvPr/>
        </p:nvSpPr>
        <p:spPr>
          <a:xfrm>
            <a:off x="646112" y="3691924"/>
            <a:ext cx="447649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92D050"/>
              </a:buClr>
            </a:pPr>
            <a:r>
              <a:rPr lang="en-US" sz="2200" dirty="0">
                <a:solidFill>
                  <a:srgbClr val="92D050"/>
                </a:solidFill>
              </a:rPr>
              <a:t>Results</a:t>
            </a:r>
          </a:p>
          <a:p>
            <a:pPr indent="-285750">
              <a:lnSpc>
                <a:spcPct val="150000"/>
              </a:lnSpc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Device use and sleep</a:t>
            </a:r>
          </a:p>
          <a:p>
            <a:pPr indent="-285750">
              <a:lnSpc>
                <a:spcPct val="150000"/>
              </a:lnSpc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Use and mental health scores</a:t>
            </a:r>
          </a:p>
          <a:p>
            <a:pPr indent="-285750">
              <a:lnSpc>
                <a:spcPct val="150000"/>
              </a:lnSpc>
              <a:buClr>
                <a:srgbClr val="92D050"/>
              </a:buClr>
              <a:buFont typeface="Century Gothic" panose="020B0502020202020204" pitchFamily="34" charset="0"/>
              <a:buChar char="►"/>
            </a:pPr>
            <a:r>
              <a:rPr lang="en-US" dirty="0"/>
              <a:t>Identified significant features</a:t>
            </a:r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endParaRPr lang="en-US" dirty="0"/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endParaRPr lang="en-US" dirty="0"/>
          </a:p>
          <a:p>
            <a:pPr marL="285750" indent="-285750">
              <a:buClr>
                <a:srgbClr val="92D050"/>
              </a:buClr>
              <a:buFont typeface="Century Gothic" panose="020B0502020202020204" pitchFamily="34" charset="0"/>
              <a:buChar char="►"/>
            </a:pPr>
            <a:endParaRPr lang="en-US" dirty="0"/>
          </a:p>
          <a:p>
            <a:pPr>
              <a:buClr>
                <a:srgbClr val="92D05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1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51A9-F15E-3594-2194-11B8A245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09EA-EF57-A265-25C4-46272CCFB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30131"/>
            <a:ext cx="5444972" cy="3484480"/>
          </a:xfrm>
        </p:spPr>
        <p:txBody>
          <a:bodyPr>
            <a:normAutofit/>
          </a:bodyPr>
          <a:lstStyle/>
          <a:p>
            <a:r>
              <a:rPr lang="en-US" dirty="0"/>
              <a:t>Decent, consistent performance</a:t>
            </a:r>
          </a:p>
          <a:p>
            <a:r>
              <a:rPr lang="en-US" dirty="0"/>
              <a:t>Able to ignore unimportant features</a:t>
            </a:r>
          </a:p>
          <a:p>
            <a:r>
              <a:rPr lang="en-US" dirty="0"/>
              <a:t>Gradient Boost yielded best results</a:t>
            </a:r>
          </a:p>
          <a:p>
            <a:r>
              <a:rPr lang="en-US" dirty="0"/>
              <a:t>Stress, device hours, and sleep hours were most important features for all tree models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A74BB-054F-81AB-5C86-6E7D1247B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89" y="274687"/>
            <a:ext cx="3137252" cy="3611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EBD52-F8D3-E02C-1B8C-80D2AA935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083" y="3922142"/>
            <a:ext cx="5102864" cy="288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0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5E55-86A1-B761-5A6D-6D7951DE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4FA2-13CC-A519-0F88-5F8160923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/>
          <a:p>
            <a:r>
              <a:rPr lang="en-US" dirty="0"/>
              <a:t>Poor initial performance due to noisy data</a:t>
            </a:r>
          </a:p>
          <a:p>
            <a:r>
              <a:rPr lang="en-US" dirty="0"/>
              <a:t>Performed better with fewer, more significant features</a:t>
            </a:r>
          </a:p>
          <a:p>
            <a:r>
              <a:rPr lang="en-US" dirty="0"/>
              <a:t>SVC with </a:t>
            </a:r>
            <a:r>
              <a:rPr lang="en-US" dirty="0" err="1"/>
              <a:t>rbf</a:t>
            </a:r>
            <a:r>
              <a:rPr lang="en-US" dirty="0"/>
              <a:t> kernel performed best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AE1A0-4789-E00C-D3E1-4EB5EAF7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309" y="2056092"/>
            <a:ext cx="3580708" cy="4200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790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A0EBE8-8C5B-423F-27D6-AF9D6802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Clustering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D969DF-3FF3-302C-BBD8-057F369D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/>
          <a:p>
            <a:r>
              <a:rPr lang="en-US" dirty="0"/>
              <a:t>Displayed natural separation of target classes exists in data</a:t>
            </a:r>
          </a:p>
          <a:p>
            <a:r>
              <a:rPr lang="en-US" dirty="0"/>
              <a:t>Performed best when set to 2 clusters</a:t>
            </a:r>
          </a:p>
          <a:p>
            <a:r>
              <a:rPr lang="en-US" dirty="0"/>
              <a:t>Both K-Means and hierarchical clustering yielded similar results</a:t>
            </a:r>
          </a:p>
          <a:p>
            <a:r>
              <a:rPr lang="en-US" dirty="0"/>
              <a:t>Hierarchical clustering slightly more insightful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C9706E-BFF2-CFAB-6A35-D9E9DAA38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93" y="2221825"/>
            <a:ext cx="4396341" cy="38687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508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AD86-FE92-5FD6-8541-A1ACFA3E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630A9-B9F7-F128-143D-C95F51530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this dataset, device use </a:t>
            </a:r>
            <a:r>
              <a:rPr lang="en-US" b="1" dirty="0"/>
              <a:t>does</a:t>
            </a:r>
            <a:r>
              <a:rPr lang="en-US" dirty="0"/>
              <a:t> influence mental health markers</a:t>
            </a:r>
          </a:p>
          <a:p>
            <a:r>
              <a:rPr lang="en-US" dirty="0"/>
              <a:t>Strongest indicators were device use, sleep, and mental health scores</a:t>
            </a:r>
          </a:p>
          <a:p>
            <a:r>
              <a:rPr lang="en-US" dirty="0"/>
              <a:t>Further analysis can be done</a:t>
            </a:r>
          </a:p>
          <a:p>
            <a:pPr lvl="1"/>
            <a:r>
              <a:rPr lang="en-US" dirty="0"/>
              <a:t>Train more complex models</a:t>
            </a:r>
          </a:p>
          <a:p>
            <a:pPr lvl="1"/>
            <a:r>
              <a:rPr lang="en-US" dirty="0"/>
              <a:t>More robust feature engineering</a:t>
            </a:r>
          </a:p>
          <a:p>
            <a:pPr lvl="1"/>
            <a:r>
              <a:rPr lang="en-US" dirty="0"/>
              <a:t>More optimized tuning of model parameters and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013127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136</TotalTime>
  <Words>324</Words>
  <Application>Microsoft Office PowerPoint</Application>
  <PresentationFormat>Widescreen</PresentationFormat>
  <Paragraphs>83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Wingdings 3</vt:lpstr>
      <vt:lpstr>Ion</vt:lpstr>
      <vt:lpstr>Digital Behavior vs. Mental Health</vt:lpstr>
      <vt:lpstr>Living in a Digital Age</vt:lpstr>
      <vt:lpstr>Dataset Used for Analysis and Model Training  “Digital Lifestyle Benchmark” from Kaggle.com</vt:lpstr>
      <vt:lpstr>Methods</vt:lpstr>
      <vt:lpstr>Preprocessing</vt:lpstr>
      <vt:lpstr>EDA</vt:lpstr>
      <vt:lpstr>Trees</vt:lpstr>
      <vt:lpstr>Linear</vt:lpstr>
      <vt:lpstr>Clustering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Travis Webber</dc:creator>
  <cp:lastModifiedBy>Travis Webber</cp:lastModifiedBy>
  <cp:revision>2</cp:revision>
  <dcterms:created xsi:type="dcterms:W3CDTF">2025-12-16T00:36:56Z</dcterms:created>
  <dcterms:modified xsi:type="dcterms:W3CDTF">2025-12-16T02:52:57Z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